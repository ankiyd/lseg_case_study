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Hanken Grotesk Medium"/>
      <p:regular r:id="rId13"/>
      <p:bold r:id="rId14"/>
      <p:italic r:id="rId15"/>
      <p:boldItalic r:id="rId16"/>
    </p:embeddedFont>
    <p:embeddedFont>
      <p:font typeface="Neuton Light"/>
      <p:regular r:id="rId17"/>
      <p:bold r:id="rId18"/>
      <p:boldItalic r:id="rId19"/>
    </p:embeddedFont>
    <p:embeddedFont>
      <p:font typeface="Hanken Grotesk"/>
      <p:regular r:id="rId20"/>
      <p:bold r:id="rId21"/>
      <p:italic r:id="rId22"/>
      <p:boldItalic r:id="rId23"/>
    </p:embeddedFont>
    <p:embeddedFont>
      <p:font typeface="Hanken Grotesk SemiBold"/>
      <p:regular r:id="rId24"/>
      <p:bold r:id="rId25"/>
      <p:italic r:id="rId26"/>
      <p:boldItalic r:id="rId27"/>
    </p:embeddedFont>
    <p:embeddedFont>
      <p:font typeface="Neuton"/>
      <p:regular r:id="rId28"/>
      <p:bold r:id="rId29"/>
      <p:italic r:id="rId30"/>
    </p:embeddedFont>
    <p:embeddedFont>
      <p:font typeface="Hanken Grotesk Ligh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-regular.fntdata"/><Relationship Id="rId22" Type="http://schemas.openxmlformats.org/officeDocument/2006/relationships/font" Target="fonts/HankenGrotesk-italic.fntdata"/><Relationship Id="rId21" Type="http://schemas.openxmlformats.org/officeDocument/2006/relationships/font" Target="fonts/HankenGrotesk-bold.fntdata"/><Relationship Id="rId24" Type="http://schemas.openxmlformats.org/officeDocument/2006/relationships/font" Target="fonts/HankenGroteskSemiBold-regular.fntdata"/><Relationship Id="rId23" Type="http://schemas.openxmlformats.org/officeDocument/2006/relationships/font" Target="fonts/HankenGrotesk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ankenGroteskSemiBold-italic.fntdata"/><Relationship Id="rId25" Type="http://schemas.openxmlformats.org/officeDocument/2006/relationships/font" Target="fonts/HankenGroteskSemiBold-bold.fntdata"/><Relationship Id="rId28" Type="http://schemas.openxmlformats.org/officeDocument/2006/relationships/font" Target="fonts/Neuton-regular.fntdata"/><Relationship Id="rId27" Type="http://schemas.openxmlformats.org/officeDocument/2006/relationships/font" Target="fonts/HankenGrotesk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Neuton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ankenGroteskLight-regular.fntdata"/><Relationship Id="rId30" Type="http://schemas.openxmlformats.org/officeDocument/2006/relationships/font" Target="fonts/Neuton-italic.fntdata"/><Relationship Id="rId11" Type="http://schemas.openxmlformats.org/officeDocument/2006/relationships/slide" Target="slides/slide5.xml"/><Relationship Id="rId33" Type="http://schemas.openxmlformats.org/officeDocument/2006/relationships/font" Target="fonts/HankenGroteskLight-italic.fntdata"/><Relationship Id="rId10" Type="http://schemas.openxmlformats.org/officeDocument/2006/relationships/slide" Target="slides/slide4.xml"/><Relationship Id="rId32" Type="http://schemas.openxmlformats.org/officeDocument/2006/relationships/font" Target="fonts/HankenGroteskLight-bold.fntdata"/><Relationship Id="rId13" Type="http://schemas.openxmlformats.org/officeDocument/2006/relationships/font" Target="fonts/HankenGroteskMedium-regular.fntdata"/><Relationship Id="rId12" Type="http://schemas.openxmlformats.org/officeDocument/2006/relationships/slide" Target="slides/slide6.xml"/><Relationship Id="rId34" Type="http://schemas.openxmlformats.org/officeDocument/2006/relationships/font" Target="fonts/HankenGroteskLight-boldItalic.fntdata"/><Relationship Id="rId15" Type="http://schemas.openxmlformats.org/officeDocument/2006/relationships/font" Target="fonts/HankenGroteskMedium-italic.fntdata"/><Relationship Id="rId14" Type="http://schemas.openxmlformats.org/officeDocument/2006/relationships/font" Target="fonts/HankenGroteskMedium-bold.fntdata"/><Relationship Id="rId17" Type="http://schemas.openxmlformats.org/officeDocument/2006/relationships/font" Target="fonts/NeutonLight-regular.fntdata"/><Relationship Id="rId16" Type="http://schemas.openxmlformats.org/officeDocument/2006/relationships/font" Target="fonts/HankenGroteskMedium-boldItalic.fntdata"/><Relationship Id="rId19" Type="http://schemas.openxmlformats.org/officeDocument/2006/relationships/font" Target="fonts/NeutonLight-boldItalic.fntdata"/><Relationship Id="rId18" Type="http://schemas.openxmlformats.org/officeDocument/2006/relationships/font" Target="fonts/Neuton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ca233c960f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ca233c960f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ca233c960f_0_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ca233c960f_0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ca233c960f_0_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ca233c960f_0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ca233c960f_0_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ca233c960f_0_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ca233c960f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ca233c960f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Under External: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Relocation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Family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Health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Entrepreneurship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Career switch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Note : Not all attrition is organizationally controllable.</a:t>
            </a:r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ca233c960f_0_10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ca233c960f_0_1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4" name="Google Shape;74;p15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5" name="Google Shape;75;p15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6" name="Google Shape;76;p15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7" name="Google Shape;77;p15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8" name="Google Shape;78;p15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79" name="Google Shape;79;p15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0" name="Google Shape;80;p15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1" name="Google Shape;81;p15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2" name="Google Shape;82;p15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" name="Google Shape;87;p1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8" name="Google Shape;88;p16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6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2" name="Google Shape;92;p16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3" name="Google Shape;93;p16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6" name="Google Shape;96;p16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9" name="Google Shape;99;p16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16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1" name="Google Shape;101;p16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2" name="Google Shape;102;p16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" name="Google Shape;107;p1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17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7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8" name="Google Shape;118;p17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9" name="Google Shape;119;p17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7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1" name="Google Shape;121;p17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2" name="Google Shape;122;p17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7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17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8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132" name="Google Shape;132;p18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34" name="Google Shape;134;p18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5" name="Google Shape;135;p18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136" name="Google Shape;136;p18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139" name="Google Shape;139;p19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1" name="Google Shape;141;p19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42" name="Google Shape;142;p19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143" name="Google Shape;143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5" name="Google Shape;145;p19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46" name="Google Shape;146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48" name="Google Shape;148;p19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49" name="Google Shape;149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51" name="Google Shape;151;p19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52" name="Google Shape;152;p19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58" name="Google Shape;158;p20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0" name="Google Shape;160;p20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6" name="Google Shape;166;p21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8" name="Google Shape;168;p21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0" name="Google Shape;170;p21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2" name="Google Shape;172;p21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21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5" name="Google Shape;175;p21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21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7" name="Google Shape;177;p21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0" name="Google Shape;180;p2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1" name="Google Shape;181;p22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2" name="Google Shape;182;p22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3" name="Google Shape;183;p22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4" name="Google Shape;184;p22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5" name="Google Shape;185;p22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9" name="Google Shape;189;p23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0" name="Google Shape;190;p23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1" name="Google Shape;191;p23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2" name="Google Shape;192;p23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8" name="Google Shape;198;p23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9" name="Google Shape;199;p23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0" name="Google Shape;200;p23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1" name="Google Shape;201;p2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2" name="Google Shape;202;p23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23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4" name="Google Shape;204;p23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5" name="Google Shape;205;p23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23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8" name="Google Shape;208;p23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9" name="Google Shape;209;p23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0" name="Google Shape;210;p23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1" name="Google Shape;211;p23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4" name="Google Shape;214;p24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5" name="Google Shape;215;p24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6" name="Google Shape;216;p24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7" name="Google Shape;217;p24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8" name="Google Shape;218;p24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9" name="Google Shape;219;p24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0" name="Google Shape;220;p24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5" name="Google Shape;225;p24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6" name="Google Shape;226;p24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7" name="Google Shape;227;p24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0" name="Google Shape;230;p24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1" name="Google Shape;231;p24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2" name="Google Shape;232;p24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4" name="Google Shape;234;p24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5" name="Google Shape;235;p24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6" name="Google Shape;236;p24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7" name="Google Shape;237;p24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8" name="Google Shape;238;p24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9" name="Google Shape;239;p24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0" name="Google Shape;240;p24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1" name="Google Shape;241;p24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" name="Google Shape;242;p24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" name="Google Shape;243;p24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5" name="Google Shape;245;p24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24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24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3" name="Google Shape;253;p25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4" name="Google Shape;254;p25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5" name="Google Shape;255;p25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5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25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5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5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1" name="Google Shape;261;p25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7" name="Google Shape;267;p25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8" name="Google Shape;268;p25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9" name="Google Shape;269;p25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25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2" name="Google Shape;272;p25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3" name="Google Shape;273;p25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4" name="Google Shape;274;p25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25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25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7" name="Google Shape;277;p25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8" name="Google Shape;278;p25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9" name="Google Shape;279;p25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25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1" name="Google Shape;281;p25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2" name="Google Shape;282;p25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25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25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87" name="Google Shape;287;p26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8" name="Google Shape;288;p26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9" name="Google Shape;289;p26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0" name="Google Shape;290;p26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1" name="Google Shape;291;p26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2" name="Google Shape;292;p26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3" name="Google Shape;293;p26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4" name="Google Shape;294;p26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5" name="Google Shape;295;p26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6" name="Google Shape;296;p26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8" name="Google Shape;298;p26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9" name="Google Shape;299;p26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0" name="Google Shape;300;p26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1" name="Google Shape;301;p26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2" name="Google Shape;302;p26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3" name="Google Shape;303;p26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26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5" name="Google Shape;305;p26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6" name="Google Shape;306;p26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8" name="Google Shape;308;p26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26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0" name="Google Shape;310;p26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26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26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3" name="Google Shape;313;p26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4" name="Google Shape;314;p26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5" name="Google Shape;315;p26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6" name="Google Shape;316;p26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7" name="Google Shape;317;p26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6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6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6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23" name="Google Shape;323;p2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4" name="Google Shape;324;p27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5" name="Google Shape;325;p27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7" name="Google Shape;327;p27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328" name="Google Shape;328;p27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9" name="Google Shape;329;p27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1" name="Google Shape;331;p27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2" name="Google Shape;332;p27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3" name="Google Shape;333;p27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4" name="Google Shape;334;p27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5" name="Google Shape;335;p27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6" name="Google Shape;336;p27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7" name="Google Shape;337;p27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8" name="Google Shape;338;p27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27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27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1" name="Google Shape;341;p27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2" name="Google Shape;342;p27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3" name="Google Shape;343;p27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4" name="Google Shape;344;p27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5" name="Google Shape;345;p27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6" name="Google Shape;346;p27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7" name="Google Shape;347;p27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27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49" name="Google Shape;349;p27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0" name="Google Shape;350;p27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1" name="Google Shape;351;p27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27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3" name="Google Shape;353;p27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4" name="Google Shape;354;p27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5" name="Google Shape;355;p27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27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7" name="Google Shape;357;p27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8" name="Google Shape;358;p27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9" name="Google Shape;359;p27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2" name="Google Shape;362;p28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3" name="Google Shape;363;p28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4" name="Google Shape;364;p28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5" name="Google Shape;365;p28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28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3" name="Google Shape;373;p28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28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28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28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28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28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28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2" name="Google Shape;382;p28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3" name="Google Shape;383;p28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4" name="Google Shape;384;p28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5" name="Google Shape;385;p28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6" name="Google Shape;386;p28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7" name="Google Shape;387;p28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8" name="Google Shape;388;p28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9" name="Google Shape;389;p28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28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28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4" name="Google Shape;394;p2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95" name="Google Shape;395;p29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6" name="Google Shape;396;p29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7" name="Google Shape;397;p29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8" name="Google Shape;398;p29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9" name="Google Shape;399;p29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0" name="Google Shape;400;p29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1" name="Google Shape;401;p29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2" name="Google Shape;402;p29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4" name="Google Shape;404;p29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5" name="Google Shape;405;p29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29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29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8" name="Google Shape;408;p29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9" name="Google Shape;409;p29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0" name="Google Shape;410;p29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1" name="Google Shape;411;p29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2" name="Google Shape;412;p29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3" name="Google Shape;413;p29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4" name="Google Shape;414;p29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5" name="Google Shape;415;p29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6" name="Google Shape;416;p29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30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30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30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30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30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4" name="Google Shape;424;p30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27" name="Google Shape;427;p30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8" name="Google Shape;428;p30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0" name="Google Shape;430;p30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1" name="Google Shape;431;p30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2" name="Google Shape;432;p30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38" name="Google Shape;438;p31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39" name="Google Shape;439;p31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31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1" name="Google Shape;441;p31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31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3" name="Google Shape;443;p31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5" name="Google Shape;445;p31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6" name="Google Shape;446;p31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7" name="Google Shape;447;p31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50" name="Google Shape;450;p32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51" name="Google Shape;451;p32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32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3" name="Google Shape;453;p32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4" name="Google Shape;454;p32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5" name="Google Shape;455;p32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6" name="Google Shape;456;p32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7" name="Google Shape;457;p32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32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32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32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32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32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3" name="Google Shape;463;p32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32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5" name="Google Shape;465;p32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6" name="Google Shape;466;p32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7" name="Google Shape;467;p32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32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2" name="Google Shape;472;p3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3" name="Google Shape;473;p3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4" name="Google Shape;474;p3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5" name="Google Shape;475;p33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3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33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33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33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33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1" name="Google Shape;481;p33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2" name="Google Shape;482;p33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3" name="Google Shape;483;p33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4" name="Google Shape;484;p33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5" name="Google Shape;485;p3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3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7" name="Google Shape;487;p33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3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9" name="Google Shape;489;p33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0" name="Google Shape;490;p33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4" name="Google Shape;494;p3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5" name="Google Shape;495;p3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6" name="Google Shape;496;p3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97" name="Google Shape;497;p34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98" name="Google Shape;498;p34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500" name="Google Shape;500;p3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01" name="Google Shape;501;p3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02" name="Google Shape;502;p34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3" name="Google Shape;503;p34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4" name="Google Shape;504;p34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5" name="Google Shape;505;p34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6" name="Google Shape;506;p34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7" name="Google Shape;507;p34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8" name="Google Shape;508;p34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9" name="Google Shape;509;p34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0" name="Google Shape;510;p34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1" name="Google Shape;511;p34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2" name="Google Shape;512;p34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3" name="Google Shape;513;p34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6" name="Google Shape;516;p3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17" name="Google Shape;517;p35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18" name="Google Shape;518;p35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35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22" name="Google Shape;522;p36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23" name="Google Shape;523;p36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24" name="Google Shape;524;p36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36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7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8" name="Google Shape;528;p37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9" name="Google Shape;529;p37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0" name="Google Shape;530;p37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1" name="Google Shape;531;p37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2" name="Google Shape;532;p37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3" name="Google Shape;533;p37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4" name="Google Shape;534;p37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5" name="Google Shape;535;p37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6" name="Google Shape;536;p37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7" name="Google Shape;537;p37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8" name="Google Shape;538;p37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9" name="Google Shape;539;p37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0" name="Google Shape;540;p37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1" name="Google Shape;541;p37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2" name="Google Shape;542;p3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3" name="Google Shape;543;p37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5" name="Google Shape;545;p37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6" name="Google Shape;546;p37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7" name="Google Shape;547;p37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8" name="Google Shape;548;p37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9" name="Google Shape;549;p37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0" name="Google Shape;550;p37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1" name="Google Shape;551;p37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2" name="Google Shape;552;p37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7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4" name="Google Shape;554;p37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5" name="Google Shape;555;p37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6" name="Google Shape;556;p37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7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0" name="Google Shape;560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5" name="Google Shape;56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8" name="Google Shape;568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9" name="Google Shape;569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4" name="Google Shape;574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9" name="Google Shape;579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0" name="Google Shape;580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5" name="Google Shape;585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9" name="Google Shape;589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0" name="Google Shape;590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1" name="Google Shape;591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2" name="Google Shape;592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3" name="Google Shape;593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4" name="Google Shape;594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8" name="Google Shape;598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1" name="Google Shape;601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2" name="Google Shape;602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3" name="Google Shape;603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4" name="Google Shape;604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7" name="Google Shape;607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8" name="Google Shape;608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9" name="Google Shape;609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0" name="Google Shape;610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1" name="Google Shape;611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2" name="Google Shape;612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5" name="Google Shape;615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6" name="Google Shape;616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7" name="Google Shape;617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8" name="Google Shape;618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9" name="Google Shape;619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0" name="Google Shape;620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1" name="Google Shape;621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2" name="Google Shape;622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25" name="Google Shape;625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8" name="Google Shape;628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1" name="Google Shape;63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32" name="Google Shape;632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3" name="Google Shape;633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6" name="Google Shape;636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8" name="Google Shape;638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9" name="Google Shape;639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40" name="Google Shape;640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1" name="Google Shape;64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42" name="Google Shape;642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3" name="Google Shape;643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4" name="Google Shape;644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2" name="Google Shape;652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55" name="Google Shape;655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6" name="Google Shape;656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9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3" name="Google Shape;663;p59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4" name="Google Shape;664;p59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5" name="Google Shape;665;p59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Workforce Insights &amp; Attrition Risk Assessment</a:t>
            </a:r>
            <a:endParaRPr sz="6500"/>
          </a:p>
        </p:txBody>
      </p:sp>
      <p:sp>
        <p:nvSpPr>
          <p:cNvPr id="666" name="Google Shape;666;p59"/>
          <p:cNvSpPr txBox="1"/>
          <p:nvPr>
            <p:ph idx="1" type="body"/>
          </p:nvPr>
        </p:nvSpPr>
        <p:spPr>
          <a:xfrm>
            <a:off x="1487100" y="3793425"/>
            <a:ext cx="6169800" cy="360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 fontScale="55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163"/>
              <a:t>Supporting Growth Through Data-Driven People Strategy</a:t>
            </a:r>
            <a:endParaRPr/>
          </a:p>
        </p:txBody>
      </p:sp>
      <p:sp>
        <p:nvSpPr>
          <p:cNvPr id="667" name="Google Shape;667;p59"/>
          <p:cNvSpPr txBox="1"/>
          <p:nvPr>
            <p:ph idx="4" type="subTitle"/>
          </p:nvPr>
        </p:nvSpPr>
        <p:spPr>
          <a:xfrm>
            <a:off x="7040700" y="4210800"/>
            <a:ext cx="1501200" cy="53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Ankita Yadav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2" name="Google Shape;672;p60"/>
          <p:cNvGrpSpPr/>
          <p:nvPr/>
        </p:nvGrpSpPr>
        <p:grpSpPr>
          <a:xfrm>
            <a:off x="439380" y="914374"/>
            <a:ext cx="3850982" cy="4049091"/>
            <a:chOff x="192900" y="501200"/>
            <a:chExt cx="2856600" cy="4462300"/>
          </a:xfrm>
        </p:grpSpPr>
        <p:sp>
          <p:nvSpPr>
            <p:cNvPr id="673" name="Google Shape;673;p60"/>
            <p:cNvSpPr/>
            <p:nvPr/>
          </p:nvSpPr>
          <p:spPr>
            <a:xfrm rot="5400000">
              <a:off x="-520650" y="1393350"/>
              <a:ext cx="4283700" cy="28566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74" name="Google Shape;674;p60"/>
            <p:cNvSpPr/>
            <p:nvPr/>
          </p:nvSpPr>
          <p:spPr>
            <a:xfrm>
              <a:off x="347450" y="501200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675" name="Google Shape;675;p60"/>
          <p:cNvGrpSpPr/>
          <p:nvPr/>
        </p:nvGrpSpPr>
        <p:grpSpPr>
          <a:xfrm>
            <a:off x="4992130" y="914424"/>
            <a:ext cx="3665018" cy="4049091"/>
            <a:chOff x="3140675" y="501200"/>
            <a:chExt cx="2856600" cy="4462300"/>
          </a:xfrm>
        </p:grpSpPr>
        <p:sp>
          <p:nvSpPr>
            <p:cNvPr id="676" name="Google Shape;676;p60"/>
            <p:cNvSpPr/>
            <p:nvPr/>
          </p:nvSpPr>
          <p:spPr>
            <a:xfrm rot="5400000">
              <a:off x="2427125" y="1393350"/>
              <a:ext cx="4283700" cy="28566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77" name="Google Shape;677;p60"/>
            <p:cNvSpPr/>
            <p:nvPr/>
          </p:nvSpPr>
          <p:spPr>
            <a:xfrm>
              <a:off x="3295225" y="501200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678" name="Google Shape;678;p60"/>
          <p:cNvSpPr txBox="1"/>
          <p:nvPr>
            <p:ph idx="1" type="subTitle"/>
          </p:nvPr>
        </p:nvSpPr>
        <p:spPr>
          <a:xfrm>
            <a:off x="594025" y="264425"/>
            <a:ext cx="7528800" cy="5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2800">
                <a:latin typeface="Neuton"/>
                <a:ea typeface="Neuton"/>
                <a:cs typeface="Neuton"/>
                <a:sym typeface="Neuton"/>
              </a:rPr>
              <a:t>Workforce Overview &amp; Attrition Context</a:t>
            </a:r>
            <a:endParaRPr b="0" sz="2800">
              <a:latin typeface="Neuton"/>
              <a:ea typeface="Neuton"/>
              <a:cs typeface="Neuton"/>
              <a:sym typeface="Neuto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679" name="Google Shape;679;p60"/>
          <p:cNvSpPr txBox="1"/>
          <p:nvPr>
            <p:ph idx="4" type="body"/>
          </p:nvPr>
        </p:nvSpPr>
        <p:spPr>
          <a:xfrm>
            <a:off x="457547" y="1199400"/>
            <a:ext cx="3696300" cy="37641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Business Context</a:t>
            </a:r>
            <a:endParaRPr sz="1700">
              <a:latin typeface="Hanken Grotesk SemiBold"/>
              <a:ea typeface="Hanken Grotesk SemiBold"/>
              <a:cs typeface="Hanken Grotesk SemiBold"/>
              <a:sym typeface="Hanken Grotesk SemiBold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Neuton"/>
              <a:buChar char="●"/>
            </a:pPr>
            <a:r>
              <a:rPr lang="en" sz="1700">
                <a:latin typeface="Neuton"/>
                <a:ea typeface="Neuton"/>
                <a:cs typeface="Neuton"/>
                <a:sym typeface="Neuton"/>
              </a:rPr>
              <a:t>CEO concern: Turnover impacting growth</a:t>
            </a:r>
            <a:endParaRPr sz="1700">
              <a:latin typeface="Neuton"/>
              <a:ea typeface="Neuton"/>
              <a:cs typeface="Neuton"/>
              <a:sym typeface="Neuto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Neuton"/>
              <a:buChar char="●"/>
            </a:pPr>
            <a:r>
              <a:rPr lang="en" sz="1700">
                <a:latin typeface="Neuton"/>
                <a:ea typeface="Neuton"/>
                <a:cs typeface="Neuton"/>
                <a:sym typeface="Neuton"/>
              </a:rPr>
              <a:t>No standardized reporting (new HRIS)</a:t>
            </a:r>
            <a:endParaRPr sz="1700">
              <a:latin typeface="Neuton"/>
              <a:ea typeface="Neuton"/>
              <a:cs typeface="Neuton"/>
              <a:sym typeface="Neuto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Neuton"/>
              <a:buChar char="●"/>
            </a:pPr>
            <a:r>
              <a:rPr lang="en" sz="1700">
                <a:latin typeface="Neuton"/>
                <a:ea typeface="Neuton"/>
                <a:cs typeface="Neuton"/>
                <a:sym typeface="Neuton"/>
              </a:rPr>
              <a:t>Objective –</a:t>
            </a:r>
            <a:endParaRPr sz="1700">
              <a:latin typeface="Neuton"/>
              <a:ea typeface="Neuton"/>
              <a:cs typeface="Neuton"/>
              <a:sym typeface="Neuton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euton"/>
              <a:buChar char="●"/>
            </a:pPr>
            <a:r>
              <a:rPr lang="en" sz="1700">
                <a:latin typeface="Neuton"/>
                <a:ea typeface="Neuton"/>
                <a:cs typeface="Neuton"/>
                <a:sym typeface="Neuton"/>
              </a:rPr>
              <a:t>Identify concentration of attrition</a:t>
            </a:r>
            <a:endParaRPr sz="1700">
              <a:latin typeface="Neuton"/>
              <a:ea typeface="Neuton"/>
              <a:cs typeface="Neuton"/>
              <a:sym typeface="Neuton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euton"/>
              <a:buChar char="●"/>
            </a:pPr>
            <a:r>
              <a:rPr lang="en" sz="1700">
                <a:latin typeface="Neuton"/>
                <a:ea typeface="Neuton"/>
                <a:cs typeface="Neuton"/>
                <a:sym typeface="Neuton"/>
              </a:rPr>
              <a:t>Understand structural drivers</a:t>
            </a:r>
            <a:endParaRPr sz="1700">
              <a:latin typeface="Neuton"/>
              <a:ea typeface="Neuton"/>
              <a:cs typeface="Neuton"/>
              <a:sym typeface="Neuton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euton"/>
              <a:buChar char="●"/>
            </a:pPr>
            <a:r>
              <a:rPr lang="en" sz="1700">
                <a:latin typeface="Neuton"/>
                <a:ea typeface="Neuton"/>
                <a:cs typeface="Neuton"/>
                <a:sym typeface="Neuton"/>
              </a:rPr>
              <a:t>Distinguish controllable vs external</a:t>
            </a:r>
            <a:endParaRPr sz="1300"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80" name="Google Shape;680;p60"/>
          <p:cNvSpPr txBox="1"/>
          <p:nvPr>
            <p:ph idx="4" type="body"/>
          </p:nvPr>
        </p:nvSpPr>
        <p:spPr>
          <a:xfrm>
            <a:off x="5043179" y="1330025"/>
            <a:ext cx="3696300" cy="37146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Workforce Snapshot</a:t>
            </a:r>
            <a:endParaRPr sz="1700">
              <a:latin typeface="Hanken Grotesk SemiBold"/>
              <a:ea typeface="Hanken Grotesk SemiBold"/>
              <a:cs typeface="Hanken Grotesk SemiBold"/>
              <a:sym typeface="Hanken Grotesk SemiBold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Neuton"/>
              <a:buChar char="●"/>
            </a:pPr>
            <a:r>
              <a:rPr lang="en" sz="1700">
                <a:latin typeface="Neuton"/>
                <a:ea typeface="Neuton"/>
                <a:cs typeface="Neuton"/>
                <a:sym typeface="Neuton"/>
              </a:rPr>
              <a:t>Total Employees ~1,470</a:t>
            </a:r>
            <a:endParaRPr sz="1700">
              <a:latin typeface="Neuton"/>
              <a:ea typeface="Neuton"/>
              <a:cs typeface="Neuton"/>
              <a:sym typeface="Neuto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Neuton"/>
              <a:buChar char="●"/>
            </a:pPr>
            <a:r>
              <a:rPr lang="en" sz="1700">
                <a:latin typeface="Neuton"/>
                <a:ea typeface="Neuton"/>
                <a:cs typeface="Neuton"/>
                <a:sym typeface="Neuton"/>
              </a:rPr>
              <a:t>Attrition Rate ~16%</a:t>
            </a:r>
            <a:endParaRPr sz="1700">
              <a:latin typeface="Neuton"/>
              <a:ea typeface="Neuton"/>
              <a:cs typeface="Neuton"/>
              <a:sym typeface="Neuto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Neuton"/>
              <a:buChar char="●"/>
            </a:pPr>
            <a:r>
              <a:rPr lang="en" sz="1700">
                <a:latin typeface="Neuton"/>
                <a:ea typeface="Neuton"/>
                <a:cs typeface="Neuton"/>
                <a:sym typeface="Neuton"/>
              </a:rPr>
              <a:t>Largest Department – R&amp;D</a:t>
            </a:r>
            <a:endParaRPr sz="1700">
              <a:latin typeface="Neuton"/>
              <a:ea typeface="Neuton"/>
              <a:cs typeface="Neuton"/>
              <a:sym typeface="Neuto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Neuton"/>
              <a:buChar char="●"/>
            </a:pPr>
            <a:r>
              <a:rPr lang="en" sz="1700">
                <a:latin typeface="Neuton"/>
                <a:ea typeface="Neuton"/>
                <a:cs typeface="Neuton"/>
                <a:sym typeface="Neuton"/>
              </a:rPr>
              <a:t>Majority Workforce – Job Levels 1–2</a:t>
            </a:r>
            <a:endParaRPr sz="1700">
              <a:latin typeface="Neuton"/>
              <a:ea typeface="Neuton"/>
              <a:cs typeface="Neuton"/>
              <a:sym typeface="Neuto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Neuton"/>
              <a:buChar char="●"/>
            </a:pPr>
            <a:r>
              <a:rPr lang="en" sz="1700">
                <a:latin typeface="Neuton"/>
                <a:ea typeface="Neuton"/>
                <a:cs typeface="Neuton"/>
                <a:sym typeface="Neuton"/>
              </a:rPr>
              <a:t>Age Concentration – 26–42</a:t>
            </a:r>
            <a:endParaRPr b="1" sz="1700">
              <a:latin typeface="Neuton"/>
              <a:ea typeface="Neuton"/>
              <a:cs typeface="Neuton"/>
              <a:sym typeface="Neuto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1"/>
          <p:cNvSpPr/>
          <p:nvPr/>
        </p:nvSpPr>
        <p:spPr>
          <a:xfrm rot="5400000">
            <a:off x="1238857" y="1711850"/>
            <a:ext cx="22086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6" name="Google Shape;686;p61"/>
          <p:cNvSpPr/>
          <p:nvPr/>
        </p:nvSpPr>
        <p:spPr>
          <a:xfrm rot="5400000">
            <a:off x="1274107" y="-573272"/>
            <a:ext cx="21381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7" name="Google Shape;687;p61"/>
          <p:cNvSpPr/>
          <p:nvPr/>
        </p:nvSpPr>
        <p:spPr>
          <a:xfrm rot="5400000">
            <a:off x="5731432" y="-574447"/>
            <a:ext cx="21381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8" name="Google Shape;688;p61"/>
          <p:cNvSpPr/>
          <p:nvPr/>
        </p:nvSpPr>
        <p:spPr>
          <a:xfrm rot="5400000">
            <a:off x="5697675" y="1710350"/>
            <a:ext cx="22056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89" name="Google Shape;689;p61"/>
          <p:cNvSpPr txBox="1"/>
          <p:nvPr>
            <p:ph idx="5" type="subTitle"/>
          </p:nvPr>
        </p:nvSpPr>
        <p:spPr>
          <a:xfrm>
            <a:off x="311700" y="92675"/>
            <a:ext cx="8538600" cy="321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0" lang="en" sz="2450">
                <a:latin typeface="Neuton"/>
                <a:ea typeface="Neuton"/>
                <a:cs typeface="Neuton"/>
                <a:sym typeface="Neuton"/>
              </a:rPr>
              <a:t>Attrition Is Structurally Concentrated</a:t>
            </a:r>
            <a:endParaRPr b="0" sz="2450">
              <a:latin typeface="Neuton"/>
              <a:ea typeface="Neuton"/>
              <a:cs typeface="Neuton"/>
              <a:sym typeface="Neuton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25"/>
              <a:buNone/>
            </a:pPr>
            <a:r>
              <a:t/>
            </a:r>
            <a:endParaRPr sz="625"/>
          </a:p>
        </p:txBody>
      </p:sp>
      <p:pic>
        <p:nvPicPr>
          <p:cNvPr id="690" name="Google Shape;690;p61" title="attrition_by_dep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950" y="582700"/>
            <a:ext cx="4226025" cy="198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61" title="attrition_by_job_leve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0575" y="639425"/>
            <a:ext cx="4099800" cy="18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61" title="attrition_by_overtim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830225"/>
            <a:ext cx="4099800" cy="20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61" title="attrition_by_business_trave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2500" y="2841250"/>
            <a:ext cx="4099800" cy="20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Google Shape;698;p62"/>
          <p:cNvGrpSpPr/>
          <p:nvPr/>
        </p:nvGrpSpPr>
        <p:grpSpPr>
          <a:xfrm>
            <a:off x="6088450" y="950016"/>
            <a:ext cx="2856600" cy="4013393"/>
            <a:chOff x="3140675" y="501200"/>
            <a:chExt cx="2856600" cy="4462300"/>
          </a:xfrm>
        </p:grpSpPr>
        <p:sp>
          <p:nvSpPr>
            <p:cNvPr id="699" name="Google Shape;699;p62"/>
            <p:cNvSpPr/>
            <p:nvPr/>
          </p:nvSpPr>
          <p:spPr>
            <a:xfrm rot="5400000">
              <a:off x="2427125" y="1393350"/>
              <a:ext cx="4283700" cy="28566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00" name="Google Shape;700;p62"/>
            <p:cNvSpPr/>
            <p:nvPr/>
          </p:nvSpPr>
          <p:spPr>
            <a:xfrm>
              <a:off x="3295225" y="501200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701" name="Google Shape;701;p62"/>
          <p:cNvGrpSpPr/>
          <p:nvPr/>
        </p:nvGrpSpPr>
        <p:grpSpPr>
          <a:xfrm>
            <a:off x="192900" y="950016"/>
            <a:ext cx="2856600" cy="4013393"/>
            <a:chOff x="192900" y="501200"/>
            <a:chExt cx="2856600" cy="4462300"/>
          </a:xfrm>
        </p:grpSpPr>
        <p:sp>
          <p:nvSpPr>
            <p:cNvPr id="702" name="Google Shape;702;p62"/>
            <p:cNvSpPr/>
            <p:nvPr/>
          </p:nvSpPr>
          <p:spPr>
            <a:xfrm rot="5400000">
              <a:off x="-520650" y="1393350"/>
              <a:ext cx="4283700" cy="28566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03" name="Google Shape;703;p62"/>
            <p:cNvSpPr/>
            <p:nvPr/>
          </p:nvSpPr>
          <p:spPr>
            <a:xfrm>
              <a:off x="347450" y="501200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704" name="Google Shape;704;p62"/>
          <p:cNvGrpSpPr/>
          <p:nvPr/>
        </p:nvGrpSpPr>
        <p:grpSpPr>
          <a:xfrm>
            <a:off x="3140675" y="890638"/>
            <a:ext cx="2856600" cy="4072741"/>
            <a:chOff x="3140675" y="501200"/>
            <a:chExt cx="2856600" cy="4462300"/>
          </a:xfrm>
        </p:grpSpPr>
        <p:sp>
          <p:nvSpPr>
            <p:cNvPr id="705" name="Google Shape;705;p62"/>
            <p:cNvSpPr/>
            <p:nvPr/>
          </p:nvSpPr>
          <p:spPr>
            <a:xfrm rot="5400000">
              <a:off x="2427125" y="1393350"/>
              <a:ext cx="4283700" cy="28566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06" name="Google Shape;706;p62"/>
            <p:cNvSpPr/>
            <p:nvPr/>
          </p:nvSpPr>
          <p:spPr>
            <a:xfrm>
              <a:off x="3295225" y="501200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707" name="Google Shape;707;p62"/>
          <p:cNvSpPr txBox="1"/>
          <p:nvPr>
            <p:ph type="title"/>
          </p:nvPr>
        </p:nvSpPr>
        <p:spPr>
          <a:xfrm>
            <a:off x="194075" y="1246921"/>
            <a:ext cx="2856900" cy="6192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Predictive Model Performance</a:t>
            </a:r>
            <a:endParaRPr sz="1800"/>
          </a:p>
        </p:txBody>
      </p:sp>
      <p:sp>
        <p:nvSpPr>
          <p:cNvPr id="708" name="Google Shape;708;p62"/>
          <p:cNvSpPr txBox="1"/>
          <p:nvPr>
            <p:ph idx="1" type="subTitle"/>
          </p:nvPr>
        </p:nvSpPr>
        <p:spPr>
          <a:xfrm>
            <a:off x="594025" y="69500"/>
            <a:ext cx="7706700" cy="61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2800">
                <a:latin typeface="Neuton"/>
                <a:ea typeface="Neuton"/>
                <a:cs typeface="Neuton"/>
                <a:sym typeface="Neuton"/>
              </a:rPr>
              <a:t>Attrition Is Predictable – Key Risk Drivers</a:t>
            </a:r>
            <a:endParaRPr b="0" sz="2800">
              <a:latin typeface="Neuton"/>
              <a:ea typeface="Neuton"/>
              <a:cs typeface="Neuton"/>
              <a:sym typeface="Neuto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09" name="Google Shape;709;p62"/>
          <p:cNvSpPr txBox="1"/>
          <p:nvPr>
            <p:ph idx="2" type="title"/>
          </p:nvPr>
        </p:nvSpPr>
        <p:spPr>
          <a:xfrm>
            <a:off x="3141263" y="1246924"/>
            <a:ext cx="2856900" cy="4038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Drivers Increasing Risk</a:t>
            </a:r>
            <a:endParaRPr sz="2500"/>
          </a:p>
        </p:txBody>
      </p:sp>
      <p:sp>
        <p:nvSpPr>
          <p:cNvPr id="710" name="Google Shape;710;p62"/>
          <p:cNvSpPr txBox="1"/>
          <p:nvPr>
            <p:ph idx="3" type="title"/>
          </p:nvPr>
        </p:nvSpPr>
        <p:spPr>
          <a:xfrm>
            <a:off x="6088475" y="124692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800"/>
              <a:t>Drivers Reducing Risk</a:t>
            </a:r>
            <a:endParaRPr sz="2500"/>
          </a:p>
        </p:txBody>
      </p:sp>
      <p:sp>
        <p:nvSpPr>
          <p:cNvPr id="711" name="Google Shape;711;p62"/>
          <p:cNvSpPr txBox="1"/>
          <p:nvPr>
            <p:ph idx="4" type="body"/>
          </p:nvPr>
        </p:nvSpPr>
        <p:spPr>
          <a:xfrm>
            <a:off x="192625" y="1678468"/>
            <a:ext cx="2856900" cy="29091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 lnSpcReduction="10000"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400"/>
              <a:t>ROC-AUC ≈ 0.80</a:t>
            </a:r>
            <a:endParaRPr sz="14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400"/>
              <a:t>Identifies ~64% of at-risk employees</a:t>
            </a:r>
            <a:endParaRPr sz="14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400"/>
              <a:t>Stable across validation</a:t>
            </a:r>
            <a:br>
              <a:rPr lang="en" sz="1400"/>
            </a:b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Attrition risk is structurally predictable.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5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12" name="Google Shape;712;p62"/>
          <p:cNvSpPr txBox="1"/>
          <p:nvPr>
            <p:ph idx="5" type="body"/>
          </p:nvPr>
        </p:nvSpPr>
        <p:spPr>
          <a:xfrm>
            <a:off x="3139788" y="1650725"/>
            <a:ext cx="2856900" cy="27948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Overtime			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Frequent Business Travel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Sales roles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Single marital status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Early tenure</a:t>
            </a:r>
            <a:endParaRPr sz="1400"/>
          </a:p>
          <a:p>
            <a:pPr indent="-89999" lvl="0" marL="179999" rtl="0" algn="l">
              <a:spcBef>
                <a:spcPts val="1200"/>
              </a:spcBef>
              <a:spcAft>
                <a:spcPts val="500"/>
              </a:spcAft>
              <a:buNone/>
            </a:pPr>
            <a:r>
              <a:rPr lang="en" sz="1400"/>
              <a:t>Overtime nearly doubles attrition odds.</a:t>
            </a:r>
            <a:endParaRPr sz="1400"/>
          </a:p>
        </p:txBody>
      </p:sp>
      <p:sp>
        <p:nvSpPr>
          <p:cNvPr id="713" name="Google Shape;713;p62"/>
          <p:cNvSpPr txBox="1"/>
          <p:nvPr>
            <p:ph idx="6" type="body"/>
          </p:nvPr>
        </p:nvSpPr>
        <p:spPr>
          <a:xfrm>
            <a:off x="6086975" y="1610952"/>
            <a:ext cx="2856900" cy="29091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R&amp;D roles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Higher job &amp; environment satisfaction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Longer tenure in role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Manager stability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500"/>
              </a:spcAft>
              <a:buSzPts val="1400"/>
              <a:buChar char="●"/>
            </a:pPr>
            <a:r>
              <a:rPr lang="en" sz="1400"/>
              <a:t>Stock options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" name="Google Shape;718;p63"/>
          <p:cNvGrpSpPr/>
          <p:nvPr/>
        </p:nvGrpSpPr>
        <p:grpSpPr>
          <a:xfrm>
            <a:off x="227500" y="1377281"/>
            <a:ext cx="4291500" cy="3539312"/>
            <a:chOff x="227492" y="1993681"/>
            <a:chExt cx="4291500" cy="2923119"/>
          </a:xfrm>
        </p:grpSpPr>
        <p:sp>
          <p:nvSpPr>
            <p:cNvPr id="719" name="Google Shape;719;p63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20" name="Google Shape;720;p63"/>
            <p:cNvSpPr/>
            <p:nvPr/>
          </p:nvSpPr>
          <p:spPr>
            <a:xfrm>
              <a:off x="476806" y="1993681"/>
              <a:ext cx="1797368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721" name="Google Shape;721;p63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2" name="Google Shape;722;p63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3" name="Google Shape;723;p63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4" name="Google Shape;724;p63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5" name="Google Shape;725;p63"/>
          <p:cNvSpPr txBox="1"/>
          <p:nvPr>
            <p:ph idx="16" type="subTitle"/>
          </p:nvPr>
        </p:nvSpPr>
        <p:spPr>
          <a:xfrm>
            <a:off x="227500" y="1739032"/>
            <a:ext cx="4291500" cy="3834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External vs Controllable Attrition</a:t>
            </a:r>
            <a:endParaRPr sz="1300"/>
          </a:p>
        </p:txBody>
      </p:sp>
      <p:grpSp>
        <p:nvGrpSpPr>
          <p:cNvPr id="726" name="Google Shape;726;p63"/>
          <p:cNvGrpSpPr/>
          <p:nvPr/>
        </p:nvGrpSpPr>
        <p:grpSpPr>
          <a:xfrm>
            <a:off x="4626525" y="1377316"/>
            <a:ext cx="4291500" cy="3539312"/>
            <a:chOff x="227492" y="1993681"/>
            <a:chExt cx="4291500" cy="2923119"/>
          </a:xfrm>
        </p:grpSpPr>
        <p:sp>
          <p:nvSpPr>
            <p:cNvPr id="727" name="Google Shape;727;p63"/>
            <p:cNvSpPr/>
            <p:nvPr/>
          </p:nvSpPr>
          <p:spPr>
            <a:xfrm rot="5400000">
              <a:off x="1052792" y="1450600"/>
              <a:ext cx="2640900" cy="4291500"/>
            </a:xfrm>
            <a:prstGeom prst="roundRect">
              <a:avLst>
                <a:gd fmla="val 592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28" name="Google Shape;728;p63"/>
            <p:cNvSpPr/>
            <p:nvPr/>
          </p:nvSpPr>
          <p:spPr>
            <a:xfrm>
              <a:off x="476806" y="1993681"/>
              <a:ext cx="1797368" cy="28807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729" name="Google Shape;729;p63"/>
          <p:cNvSpPr txBox="1"/>
          <p:nvPr>
            <p:ph idx="4" type="subTitle"/>
          </p:nvPr>
        </p:nvSpPr>
        <p:spPr>
          <a:xfrm>
            <a:off x="4626525" y="1747301"/>
            <a:ext cx="4291500" cy="3834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700"/>
              <a:t>Projected audience for new product or service</a:t>
            </a:r>
            <a:endParaRPr sz="1700"/>
          </a:p>
        </p:txBody>
      </p:sp>
      <p:sp>
        <p:nvSpPr>
          <p:cNvPr id="730" name="Google Shape;730;p63"/>
          <p:cNvSpPr txBox="1"/>
          <p:nvPr>
            <p:ph idx="27" type="title"/>
          </p:nvPr>
        </p:nvSpPr>
        <p:spPr>
          <a:xfrm>
            <a:off x="452075" y="707050"/>
            <a:ext cx="84660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Exit Feedback Validates Structural Drivers</a:t>
            </a:r>
            <a:endParaRPr sz="3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/>
          </a:p>
        </p:txBody>
      </p:sp>
      <p:sp>
        <p:nvSpPr>
          <p:cNvPr id="731" name="Google Shape;731;p63"/>
          <p:cNvSpPr txBox="1"/>
          <p:nvPr>
            <p:ph idx="4294967295" type="subTitle"/>
          </p:nvPr>
        </p:nvSpPr>
        <p:spPr>
          <a:xfrm>
            <a:off x="7549950" y="3447125"/>
            <a:ext cx="4248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600">
                <a:solidFill>
                  <a:schemeClr val="dk2"/>
                </a:solidFill>
              </a:rPr>
              <a:t>$0M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732" name="Google Shape;732;p63"/>
          <p:cNvSpPr txBox="1"/>
          <p:nvPr>
            <p:ph idx="4294967295" type="subTitle"/>
          </p:nvPr>
        </p:nvSpPr>
        <p:spPr>
          <a:xfrm>
            <a:off x="6847775" y="3611875"/>
            <a:ext cx="4248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600">
                <a:solidFill>
                  <a:schemeClr val="dk2"/>
                </a:solidFill>
              </a:rPr>
              <a:t>$0M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733" name="Google Shape;733;p63"/>
          <p:cNvSpPr txBox="1"/>
          <p:nvPr>
            <p:ph idx="4294967295" type="subTitle"/>
          </p:nvPr>
        </p:nvSpPr>
        <p:spPr>
          <a:xfrm>
            <a:off x="6142300" y="3936100"/>
            <a:ext cx="4248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600">
                <a:solidFill>
                  <a:schemeClr val="dk2"/>
                </a:solidFill>
              </a:rPr>
              <a:t>$0M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734" name="Google Shape;734;p63"/>
          <p:cNvSpPr txBox="1"/>
          <p:nvPr>
            <p:ph idx="4294967295" type="subTitle"/>
          </p:nvPr>
        </p:nvSpPr>
        <p:spPr>
          <a:xfrm>
            <a:off x="5424800" y="4152425"/>
            <a:ext cx="4248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600">
                <a:solidFill>
                  <a:schemeClr val="dk2"/>
                </a:solidFill>
              </a:rPr>
              <a:t>$0M</a:t>
            </a:r>
            <a:endParaRPr sz="600">
              <a:solidFill>
                <a:schemeClr val="dk2"/>
              </a:solidFill>
            </a:endParaRPr>
          </a:p>
        </p:txBody>
      </p:sp>
      <p:sp>
        <p:nvSpPr>
          <p:cNvPr id="735" name="Google Shape;735;p63"/>
          <p:cNvSpPr txBox="1"/>
          <p:nvPr>
            <p:ph idx="4294967295" type="subTitle"/>
          </p:nvPr>
        </p:nvSpPr>
        <p:spPr>
          <a:xfrm>
            <a:off x="8245250" y="3349125"/>
            <a:ext cx="444900" cy="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600">
                <a:solidFill>
                  <a:schemeClr val="dk2"/>
                </a:solidFill>
              </a:rPr>
              <a:t>$0M</a:t>
            </a:r>
            <a:endParaRPr sz="600">
              <a:solidFill>
                <a:schemeClr val="dk2"/>
              </a:solidFill>
            </a:endParaRPr>
          </a:p>
        </p:txBody>
      </p:sp>
      <p:pic>
        <p:nvPicPr>
          <p:cNvPr id="736" name="Google Shape;736;p63" title="External_vs_Control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25" y="2148975"/>
            <a:ext cx="4291500" cy="261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63" title="controlable_exit_surve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6525" y="2148975"/>
            <a:ext cx="4382776" cy="2767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63"/>
          <p:cNvSpPr txBox="1"/>
          <p:nvPr/>
        </p:nvSpPr>
        <p:spPr>
          <a:xfrm>
            <a:off x="335025" y="4365876"/>
            <a:ext cx="4291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Under External–</a:t>
            </a:r>
            <a:endParaRPr i="1" sz="10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Relocation , Family, Health, Entrepreneurship, Career switch</a:t>
            </a:r>
            <a:endParaRPr i="1" sz="10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Note : Not all attrition is organizationally controllable.</a:t>
            </a:r>
            <a:endParaRPr i="1" sz="1000"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3" name="Google Shape;743;p64"/>
          <p:cNvGrpSpPr/>
          <p:nvPr/>
        </p:nvGrpSpPr>
        <p:grpSpPr>
          <a:xfrm>
            <a:off x="6088450" y="501200"/>
            <a:ext cx="2856600" cy="4462300"/>
            <a:chOff x="3140675" y="501200"/>
            <a:chExt cx="2856600" cy="4462300"/>
          </a:xfrm>
        </p:grpSpPr>
        <p:sp>
          <p:nvSpPr>
            <p:cNvPr id="744" name="Google Shape;744;p64"/>
            <p:cNvSpPr/>
            <p:nvPr/>
          </p:nvSpPr>
          <p:spPr>
            <a:xfrm rot="5400000">
              <a:off x="2427125" y="1393350"/>
              <a:ext cx="4283700" cy="28566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45" name="Google Shape;745;p64"/>
            <p:cNvSpPr/>
            <p:nvPr/>
          </p:nvSpPr>
          <p:spPr>
            <a:xfrm>
              <a:off x="3295225" y="501200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746" name="Google Shape;746;p64"/>
          <p:cNvGrpSpPr/>
          <p:nvPr/>
        </p:nvGrpSpPr>
        <p:grpSpPr>
          <a:xfrm>
            <a:off x="192900" y="501200"/>
            <a:ext cx="2856600" cy="4462300"/>
            <a:chOff x="192900" y="501200"/>
            <a:chExt cx="2856600" cy="4462300"/>
          </a:xfrm>
        </p:grpSpPr>
        <p:sp>
          <p:nvSpPr>
            <p:cNvPr id="747" name="Google Shape;747;p64"/>
            <p:cNvSpPr/>
            <p:nvPr/>
          </p:nvSpPr>
          <p:spPr>
            <a:xfrm rot="5400000">
              <a:off x="-520650" y="1393350"/>
              <a:ext cx="4283700" cy="28566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48" name="Google Shape;748;p64"/>
            <p:cNvSpPr/>
            <p:nvPr/>
          </p:nvSpPr>
          <p:spPr>
            <a:xfrm>
              <a:off x="347450" y="501200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749" name="Google Shape;749;p64"/>
          <p:cNvGrpSpPr/>
          <p:nvPr/>
        </p:nvGrpSpPr>
        <p:grpSpPr>
          <a:xfrm>
            <a:off x="3140675" y="501200"/>
            <a:ext cx="2856600" cy="4462300"/>
            <a:chOff x="3140675" y="501200"/>
            <a:chExt cx="2856600" cy="4462300"/>
          </a:xfrm>
        </p:grpSpPr>
        <p:sp>
          <p:nvSpPr>
            <p:cNvPr id="750" name="Google Shape;750;p64"/>
            <p:cNvSpPr/>
            <p:nvPr/>
          </p:nvSpPr>
          <p:spPr>
            <a:xfrm rot="5400000">
              <a:off x="2427125" y="1393350"/>
              <a:ext cx="4283700" cy="28566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51" name="Google Shape;751;p64"/>
            <p:cNvSpPr/>
            <p:nvPr/>
          </p:nvSpPr>
          <p:spPr>
            <a:xfrm>
              <a:off x="3295225" y="501200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752" name="Google Shape;752;p64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Strengthen Career 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" sz="1700"/>
              <a:t>Pathways </a:t>
            </a:r>
            <a:endParaRPr/>
          </a:p>
        </p:txBody>
      </p:sp>
      <p:sp>
        <p:nvSpPr>
          <p:cNvPr id="753" name="Google Shape;753;p64"/>
          <p:cNvSpPr txBox="1"/>
          <p:nvPr>
            <p:ph idx="1" type="subTitle"/>
          </p:nvPr>
        </p:nvSpPr>
        <p:spPr>
          <a:xfrm>
            <a:off x="594025" y="59700"/>
            <a:ext cx="7980000" cy="47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0" lang="en" sz="2800">
                <a:latin typeface="Arial"/>
                <a:ea typeface="Arial"/>
                <a:cs typeface="Arial"/>
                <a:sym typeface="Arial"/>
              </a:rPr>
              <a:t>Targeted Retention Strategy – High Impact Levers</a:t>
            </a:r>
            <a:endParaRPr b="0"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754" name="Google Shape;754;p64"/>
          <p:cNvSpPr txBox="1"/>
          <p:nvPr>
            <p:ph idx="2" type="title"/>
          </p:nvPr>
        </p:nvSpPr>
        <p:spPr>
          <a:xfrm>
            <a:off x="3141175" y="795672"/>
            <a:ext cx="2856900" cy="55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Reduce Workload Intensity &amp; Travel Pressure</a:t>
            </a:r>
            <a:endParaRPr/>
          </a:p>
        </p:txBody>
      </p:sp>
      <p:sp>
        <p:nvSpPr>
          <p:cNvPr id="755" name="Google Shape;755;p64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/>
              <a:t>Strengthen Engagement &amp; Manager Stability</a:t>
            </a:r>
            <a:endParaRPr/>
          </a:p>
        </p:txBody>
      </p:sp>
      <p:sp>
        <p:nvSpPr>
          <p:cNvPr id="756" name="Google Shape;756;p64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Autofit/>
          </a:bodyPr>
          <a:lstStyle/>
          <a:p>
            <a:pPr indent="-89999" lvl="0" marL="179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Why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Career Growth = #1 controllable driver (22%)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Junior employees most at risk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89999" lvl="0" marL="17999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Actions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Clear promotion timelines for Level 1–2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Transparent internal mobility framework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Structured career conversations at Years 1–3</a:t>
            </a:r>
            <a:endParaRPr sz="1200"/>
          </a:p>
          <a:p>
            <a:pPr indent="-89999" lvl="0" marL="17999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Impact — Addresses largest controllable attrition driver.</a:t>
            </a:r>
            <a:endParaRPr sz="1200"/>
          </a:p>
          <a:p>
            <a:pPr indent="-89999" lvl="0" marL="179999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57" name="Google Shape;757;p64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200"/>
              <a:t>Why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Overtime strongly predicts attrition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Frequent travel increases risk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Work-life balance cited in exits</a:t>
            </a:r>
            <a:endParaRPr sz="1200"/>
          </a:p>
          <a:p>
            <a:pPr indent="-89999" lvl="0" marL="17999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Actions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Monitor overtime intensity dashboards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Travel optimization in Sales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Expand hybrid/remote flexibility where feasible</a:t>
            </a:r>
            <a:endParaRPr sz="1200"/>
          </a:p>
          <a:p>
            <a:pPr indent="-89999" lvl="0" marL="17999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Impact — Reduces structural burnout risk.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58" name="Google Shape;758;p64"/>
          <p:cNvSpPr txBox="1"/>
          <p:nvPr>
            <p:ph idx="6" type="body"/>
          </p:nvPr>
        </p:nvSpPr>
        <p:spPr>
          <a:xfrm>
            <a:off x="6001671" y="1414925"/>
            <a:ext cx="30912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1200"/>
              <a:t>Why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Higher satisfaction reduces the probability of attrition.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YearsWithCurrManager reduces risk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Culture cited in exits</a:t>
            </a:r>
            <a:endParaRPr sz="1200"/>
          </a:p>
          <a:p>
            <a:pPr indent="-89999" lvl="0" marL="179999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Actions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Early-tenure engagement check-ins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Manager capability development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Retention risk flagging system</a:t>
            </a:r>
            <a:endParaRPr sz="1200"/>
          </a:p>
          <a:p>
            <a:pPr indent="-89999" lvl="0" marL="179999" rtl="0" algn="l">
              <a:lnSpc>
                <a:spcPct val="100000"/>
              </a:lnSpc>
              <a:spcBef>
                <a:spcPts val="120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Impact —  Improves retention in Years 1–5 window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